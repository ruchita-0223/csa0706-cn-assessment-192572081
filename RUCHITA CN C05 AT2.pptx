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50" r:id="rId1"/>
  </p:sldMasterIdLst>
  <p:notesMasterIdLst>
    <p:notesMasterId r:id="rId10"/>
  </p:notesMasterIdLst>
  <p:sldIdLst>
    <p:sldId id="256" r:id="rId2"/>
    <p:sldId id="258" r:id="rId3"/>
    <p:sldId id="259" r:id="rId4"/>
    <p:sldId id="260" r:id="rId5"/>
    <p:sldId id="261" r:id="rId6"/>
    <p:sldId id="269" r:id="rId7"/>
    <p:sldId id="266" r:id="rId8"/>
    <p:sldId id="268" r:id="rId9"/>
  </p:sldIdLst>
  <p:sldSz cx="12192000" cy="6858000"/>
  <p:notesSz cx="6858000" cy="12192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638B1855-1B75-4FBE-930C-398BA8C253C6}" styleName="Themed Style 2 - Accent 6">
    <a:tblBg>
      <a:fillRef idx="3">
        <a:schemeClr val="accent6"/>
      </a:fillRef>
      <a:effectRef idx="3">
        <a:schemeClr val="accent6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6">
                <a:tint val="50000"/>
              </a:schemeClr>
            </a:lnRef>
          </a:left>
          <a:right>
            <a:lnRef idx="1">
              <a:schemeClr val="accent6">
                <a:tint val="50000"/>
              </a:schemeClr>
            </a:lnRef>
          </a:right>
          <a:top>
            <a:lnRef idx="1">
              <a:schemeClr val="accent6">
                <a:tint val="50000"/>
              </a:schemeClr>
            </a:lnRef>
          </a:top>
          <a:bottom>
            <a:lnRef idx="1">
              <a:schemeClr val="accent6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306799F8-075E-4A3A-A7F6-7FBC6576F1A4}" styleName="Themed Style 2 - Accent 3">
    <a:tblBg>
      <a:fillRef idx="3">
        <a:schemeClr val="accent3"/>
      </a:fillRef>
      <a:effectRef idx="3">
        <a:schemeClr val="accent3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3">
                <a:tint val="50000"/>
              </a:schemeClr>
            </a:lnRef>
          </a:left>
          <a:right>
            <a:lnRef idx="1">
              <a:schemeClr val="accent3">
                <a:tint val="50000"/>
              </a:schemeClr>
            </a:lnRef>
          </a:right>
          <a:top>
            <a:lnRef idx="1">
              <a:schemeClr val="accent3">
                <a:tint val="50000"/>
              </a:schemeClr>
            </a:lnRef>
          </a:top>
          <a:bottom>
            <a:lnRef idx="1">
              <a:schemeClr val="accent3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E269D01E-BC32-4049-B463-5C60D7B0CCD2}" styleName="Themed Style 2 - Accent 4">
    <a:tblBg>
      <a:fillRef idx="3">
        <a:schemeClr val="accent4"/>
      </a:fillRef>
      <a:effectRef idx="3">
        <a:schemeClr val="accent4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4">
                <a:tint val="50000"/>
              </a:schemeClr>
            </a:lnRef>
          </a:left>
          <a:right>
            <a:lnRef idx="1">
              <a:schemeClr val="accent4">
                <a:tint val="50000"/>
              </a:schemeClr>
            </a:lnRef>
          </a:right>
          <a:top>
            <a:lnRef idx="1">
              <a:schemeClr val="accent4">
                <a:tint val="50000"/>
              </a:schemeClr>
            </a:lnRef>
          </a:top>
          <a:bottom>
            <a:lnRef idx="1">
              <a:schemeClr val="accent4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327F97BB-C833-4FB7-BDE5-3F7075034690}" styleName="Themed Style 2 - Accent 5">
    <a:tblBg>
      <a:fillRef idx="3">
        <a:schemeClr val="accent5"/>
      </a:fillRef>
      <a:effectRef idx="3">
        <a:schemeClr val="accent5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5">
                <a:tint val="50000"/>
              </a:schemeClr>
            </a:lnRef>
          </a:left>
          <a:right>
            <a:lnRef idx="1">
              <a:schemeClr val="accent5">
                <a:tint val="50000"/>
              </a:schemeClr>
            </a:lnRef>
          </a:right>
          <a:top>
            <a:lnRef idx="1">
              <a:schemeClr val="accent5">
                <a:tint val="50000"/>
              </a:schemeClr>
            </a:lnRef>
          </a:top>
          <a:bottom>
            <a:lnRef idx="1">
              <a:schemeClr val="accent5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7" d="100"/>
          <a:sy n="67" d="100"/>
        </p:scale>
        <p:origin x="620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846284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43629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17779" y="802298"/>
            <a:ext cx="8637073" cy="2541431"/>
          </a:xfrm>
        </p:spPr>
        <p:txBody>
          <a:bodyPr bIns="0" anchor="b">
            <a:normAutofit/>
          </a:bodyPr>
          <a:lstStyle>
            <a:lvl1pPr algn="l">
              <a:defRPr sz="6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17780" y="3531204"/>
            <a:ext cx="8637072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8/27/2026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416500" y="329307"/>
            <a:ext cx="4973915" cy="30920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7664" y="798973"/>
            <a:ext cx="811019" cy="503578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35134561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8/27/2026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23002425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4239" y="1756130"/>
            <a:ext cx="8643154" cy="1887950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4239" y="3806195"/>
            <a:ext cx="8630446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8/27/2026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54239" y="3804985"/>
            <a:ext cx="863044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88913010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9217" y="804889"/>
            <a:ext cx="9605635" cy="10593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7331" y="2010878"/>
            <a:ext cx="4645152" cy="344859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3771" y="2017343"/>
            <a:ext cx="4645152" cy="34415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8/27/2026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35" name="Straight Connector 3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4529754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191" y="804163"/>
            <a:ext cx="9607661" cy="10563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7191" y="2019549"/>
            <a:ext cx="4645152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7191" y="2824269"/>
            <a:ext cx="4645152" cy="26444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2362" y="2023003"/>
            <a:ext cx="46451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2362" y="2821491"/>
            <a:ext cx="4645152" cy="26373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8/27/2026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29" name="Straight Connector 28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31643042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8/27/2026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25" name="Straight Connector 2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39098765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8/27/2026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2210916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71" y="798973"/>
            <a:ext cx="3273099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3714" y="798974"/>
            <a:ext cx="6012470" cy="465882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4671" y="3205491"/>
            <a:ext cx="3275013" cy="2248181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8/27/2026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8280" y="3205491"/>
            <a:ext cx="326949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06277101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 bwMode="black"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 bwMode="blackWhite"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206" y="1129513"/>
            <a:ext cx="5532328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50329" y="3145992"/>
            <a:ext cx="5524404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47382" y="5469856"/>
            <a:ext cx="5527351" cy="320123"/>
          </a:xfrm>
        </p:spPr>
        <p:txBody>
          <a:bodyPr/>
          <a:lstStyle>
            <a:lvl1pPr algn="l">
              <a:defRPr/>
            </a:lvl1pPr>
          </a:lstStyle>
          <a:p>
            <a:fld id="{48A87A34-81AB-432B-8DAE-1953F412C126}" type="datetimeFigureOut">
              <a:rPr lang="en-US" dirty="0"/>
              <a:pPr/>
              <a:t>8/27/2026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47382" y="318640"/>
            <a:ext cx="5541004" cy="32093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7382" y="3143605"/>
            <a:ext cx="552735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50665673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8/27/2026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26" name="Straight Connector 25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48212544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39111" y="798973"/>
            <a:ext cx="1615742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4672" y="798973"/>
            <a:ext cx="7828830" cy="46598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8/27/2026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9439111" y="798973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90032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849588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1579" y="2015732"/>
            <a:ext cx="9603275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dirty="0"/>
              <a:pPr/>
              <a:t>8/27/2026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0060" y="798973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924530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60" r:id="rId10"/>
    <p:sldLayoutId id="2147483661" r:id="rId11"/>
    <p:sldLayoutId id="2147483662" r:id="rId12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3D6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4"/>
          <p:cNvSpPr/>
          <p:nvPr/>
        </p:nvSpPr>
        <p:spPr>
          <a:xfrm>
            <a:off x="621791" y="2468880"/>
            <a:ext cx="10322433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4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How Would You Present Your Simulation Results to a Client?</a:t>
            </a:r>
          </a:p>
        </p:txBody>
      </p:sp>
      <p:sp>
        <p:nvSpPr>
          <p:cNvPr id="9" name="Text 6"/>
          <p:cNvSpPr/>
          <p:nvPr/>
        </p:nvSpPr>
        <p:spPr>
          <a:xfrm>
            <a:off x="706755" y="4897755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Presented by  </a:t>
            </a:r>
          </a:p>
          <a:p>
            <a:pPr marL="0" indent="0">
              <a:buNone/>
            </a:pPr>
            <a:r>
              <a:rPr lang="en-US" sz="2000" b="1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RUCHITA.S (192572081)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3D0485BD-A8A9-FFB9-21B6-9105DB4534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8924" y="203073"/>
            <a:ext cx="11363570" cy="1351407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E05964B9-D675-F9D2-500F-1AAE7426C4EE}"/>
              </a:ext>
            </a:extLst>
          </p:cNvPr>
          <p:cNvSpPr txBox="1"/>
          <p:nvPr/>
        </p:nvSpPr>
        <p:spPr>
          <a:xfrm>
            <a:off x="7330784" y="5017740"/>
            <a:ext cx="437171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CSA0706-COMPUTER NETWORKS</a:t>
            </a:r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7F7A6E8-9727-A7DC-E25D-3921FDBFF18E}"/>
              </a:ext>
            </a:extLst>
          </p:cNvPr>
          <p:cNvSpPr txBox="1"/>
          <p:nvPr/>
        </p:nvSpPr>
        <p:spPr>
          <a:xfrm flipH="1">
            <a:off x="1366786" y="1780674"/>
            <a:ext cx="1007765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CO5-ASSESSMENT TOOL-2(TECHNICAL PRESENTATION) </a:t>
            </a:r>
            <a:endParaRPr lang="en-IN" sz="3000" dirty="0">
              <a:solidFill>
                <a:schemeClr val="bg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0045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213E"/>
                </a:solidFill>
                <a:latin typeface="Cambria" pitchFamily="34" charset="0"/>
                <a:ea typeface="Cambria" pitchFamily="34" charset="-122"/>
              </a:rPr>
              <a:t>INTRODUCTION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234440"/>
            <a:ext cx="52120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endParaRPr lang="en-US" sz="1450" dirty="0"/>
          </a:p>
        </p:txBody>
      </p:sp>
      <p:pic>
        <p:nvPicPr>
          <p:cNvPr id="7" name="Image 0" descr="/home/claude/ppt/icons/cpu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1988" y="1723644"/>
            <a:ext cx="320040" cy="320040"/>
          </a:xfrm>
          <a:prstGeom prst="rect">
            <a:avLst/>
          </a:prstGeom>
        </p:spPr>
      </p:pic>
      <p:sp>
        <p:nvSpPr>
          <p:cNvPr id="5" name="Rectangle 1">
            <a:extLst>
              <a:ext uri="{FF2B5EF4-FFF2-40B4-BE49-F238E27FC236}">
                <a16:creationId xmlns:a16="http://schemas.microsoft.com/office/drawing/2014/main" id="{443598C3-0638-BDDF-A1A6-11E007C4AB5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6700" y="936010"/>
            <a:ext cx="11285220" cy="49859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is Network Simulation?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Network simulation is used to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 a network virtually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helps us check network performance before actual implementation. 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can identify problems such as: </a:t>
            </a:r>
          </a:p>
          <a:p>
            <a:pPr marL="800100" lvl="1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Network delay </a:t>
            </a:r>
          </a:p>
          <a:p>
            <a:pPr marL="800100" lvl="1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Packet loss </a:t>
            </a:r>
          </a:p>
          <a:p>
            <a:pPr marL="800100" lvl="1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Congestion </a:t>
            </a:r>
          </a:p>
          <a:p>
            <a:pPr marL="800100" lvl="1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Low data transfer speed 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Simulation results help the client make better decisions. </a:t>
            </a:r>
          </a:p>
          <a:p>
            <a:pPr algn="just">
              <a:lnSpc>
                <a:spcPct val="150000"/>
              </a:lnSpc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Cisco Packet Tracer can be used to simulate a computer network.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09575" y="502920"/>
            <a:ext cx="1074610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IN" sz="2800" b="1" dirty="0">
                <a:solidFill>
                  <a:srgbClr val="00206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IMPORTANT NETWORK PERFORMANCE PARAMETERS</a:t>
            </a:r>
            <a:endParaRPr lang="en-US" sz="2800" b="1" dirty="0">
              <a:solidFill>
                <a:srgbClr val="002060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E4925E2-22A3-BC74-80D0-3885A568D7BE}"/>
              </a:ext>
            </a:extLst>
          </p:cNvPr>
          <p:cNvSpPr txBox="1"/>
          <p:nvPr/>
        </p:nvSpPr>
        <p:spPr>
          <a:xfrm>
            <a:off x="631031" y="1376600"/>
            <a:ext cx="610076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Results Should We Show?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85D3EBC2-057F-1B1A-D2FF-82C0C41342D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11601985"/>
              </p:ext>
            </p:extLst>
          </p:nvPr>
        </p:nvGraphicFramePr>
        <p:xfrm>
          <a:off x="980440" y="2302669"/>
          <a:ext cx="9604374" cy="2473645"/>
        </p:xfrm>
        <a:graphic>
          <a:graphicData uri="http://schemas.openxmlformats.org/drawingml/2006/table">
            <a:tbl>
              <a:tblPr>
                <a:tableStyleId>{775DCB02-9BB8-47FD-8907-85C794F793BA}</a:tableStyleId>
              </a:tblPr>
              <a:tblGrid>
                <a:gridCol w="4802187">
                  <a:extLst>
                    <a:ext uri="{9D8B030D-6E8A-4147-A177-3AD203B41FA5}">
                      <a16:colId xmlns:a16="http://schemas.microsoft.com/office/drawing/2014/main" val="1713680899"/>
                    </a:ext>
                  </a:extLst>
                </a:gridCol>
                <a:gridCol w="4802187">
                  <a:extLst>
                    <a:ext uri="{9D8B030D-6E8A-4147-A177-3AD203B41FA5}">
                      <a16:colId xmlns:a16="http://schemas.microsoft.com/office/drawing/2014/main" val="629245341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IN" sz="2000"/>
                        <a:t>Parameter</a:t>
                      </a:r>
                      <a:endParaRPr lang="en-IN" sz="20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IN" sz="2000"/>
                        <a:t>Meaning</a:t>
                      </a:r>
                      <a:endParaRPr lang="en-IN" sz="20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0603676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IN" sz="2000" b="1"/>
                        <a:t>Throughput</a:t>
                      </a:r>
                      <a:endParaRPr lang="en-IN" sz="20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2000"/>
                        <a:t>Amount of data successfully transferred</a:t>
                      </a:r>
                      <a:endParaRPr lang="en-US" sz="20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81964899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IN" sz="2000" b="1"/>
                        <a:t>Delay</a:t>
                      </a:r>
                      <a:endParaRPr lang="en-IN" sz="20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2000"/>
                        <a:t>Time taken for data to reach the destination</a:t>
                      </a:r>
                      <a:endParaRPr lang="en-US" sz="20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32862506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IN" sz="2000" b="1"/>
                        <a:t>Packet Loss</a:t>
                      </a:r>
                      <a:endParaRPr lang="en-IN" sz="20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2000"/>
                        <a:t>Packets that do not reach the destination</a:t>
                      </a:r>
                      <a:endParaRPr lang="en-US" sz="20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43748357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IN" sz="2000" b="1"/>
                        <a:t>Network Availability</a:t>
                      </a:r>
                      <a:endParaRPr lang="en-IN" sz="20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2000" dirty="0"/>
                        <a:t>How reliably the network operates</a:t>
                      </a:r>
                      <a:endParaRPr 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1384306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65532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0206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HOW TO PRESENT SIMULATION RESULTS</a:t>
            </a:r>
          </a:p>
        </p:txBody>
      </p:sp>
      <p:sp>
        <p:nvSpPr>
          <p:cNvPr id="29" name="Rectangle 1">
            <a:extLst>
              <a:ext uri="{FF2B5EF4-FFF2-40B4-BE49-F238E27FC236}">
                <a16:creationId xmlns:a16="http://schemas.microsoft.com/office/drawing/2014/main" id="{5E817142-2788-51E6-D171-C604657C018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09700" y="1685387"/>
            <a:ext cx="7204760" cy="36009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 Results Clearly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graphs and charts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show performance.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tables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important values.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Compare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before and after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improvements.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a simple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network diagram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explain the setup.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Highlight the most important results.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Avoid unnecessary technical details.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1505" y="50292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02060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itchFamily="34" charset="-120"/>
              </a:rPr>
              <a:t> </a:t>
            </a:r>
            <a:r>
              <a:rPr lang="en-IN" sz="3000" b="1" dirty="0">
                <a:solidFill>
                  <a:srgbClr val="00206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EXAMPLE OF NETWORK SIMULATION</a:t>
            </a:r>
            <a:endParaRPr lang="en-US" sz="3000" b="1" dirty="0">
              <a:solidFill>
                <a:srgbClr val="002060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C282806-D7F0-1EB5-1ACA-49357815A944}"/>
              </a:ext>
            </a:extLst>
          </p:cNvPr>
          <p:cNvSpPr txBox="1"/>
          <p:nvPr/>
        </p:nvSpPr>
        <p:spPr>
          <a:xfrm>
            <a:off x="7539039" y="1639371"/>
            <a:ext cx="400526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Simple Network Setup</a:t>
            </a:r>
          </a:p>
        </p:txBody>
      </p:sp>
      <p:pic>
        <p:nvPicPr>
          <p:cNvPr id="2054" name="Picture 6" descr="Routing Table in Computer Networks | Board Infinity">
            <a:extLst>
              <a:ext uri="{FF2B5EF4-FFF2-40B4-BE49-F238E27FC236}">
                <a16:creationId xmlns:a16="http://schemas.microsoft.com/office/drawing/2014/main" id="{317C8705-1444-DB08-B08C-B1F41088677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96139" y="2223492"/>
            <a:ext cx="4286250" cy="24110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8337F298-8011-C4E0-7C52-DAF8D674A511}"/>
              </a:ext>
            </a:extLst>
          </p:cNvPr>
          <p:cNvSpPr txBox="1"/>
          <p:nvPr/>
        </p:nvSpPr>
        <p:spPr>
          <a:xfrm>
            <a:off x="709611" y="1333009"/>
            <a:ext cx="6100762" cy="41919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Network:</a:t>
            </a:r>
            <a:b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PCs → Switch → Router → Server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Sample Simulation Results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Throughput: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85 Mbps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Average Delay: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20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ms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Packet Loss: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2% </a:t>
            </a:r>
          </a:p>
          <a:p>
            <a:pPr>
              <a:lnSpc>
                <a:spcPct val="150000"/>
              </a:lnSpc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Interpretation:</a:t>
            </a:r>
            <a:b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network can transfer data efficiently with relatively low delay and packet loss.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25805" y="77724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IN" sz="3000" b="1" dirty="0">
                <a:solidFill>
                  <a:srgbClr val="00206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BEFORE VS AFTER IMPROVEMENT</a:t>
            </a:r>
            <a:endParaRPr lang="en-US" sz="3000" b="1" dirty="0">
              <a:solidFill>
                <a:srgbClr val="002060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EB70EF0-7ABE-DD7D-FD1D-2EDF4644FFCF}"/>
              </a:ext>
            </a:extLst>
          </p:cNvPr>
          <p:cNvSpPr txBox="1"/>
          <p:nvPr/>
        </p:nvSpPr>
        <p:spPr>
          <a:xfrm>
            <a:off x="935831" y="1553705"/>
            <a:ext cx="610076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Network Performance Comparison</a:t>
            </a:r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0CE49B87-8F9B-73B4-92B1-A708A2A1652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62308392"/>
              </p:ext>
            </p:extLst>
          </p:nvPr>
        </p:nvGraphicFramePr>
        <p:xfrm>
          <a:off x="935831" y="2148304"/>
          <a:ext cx="9604374" cy="158496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3201458">
                  <a:extLst>
                    <a:ext uri="{9D8B030D-6E8A-4147-A177-3AD203B41FA5}">
                      <a16:colId xmlns:a16="http://schemas.microsoft.com/office/drawing/2014/main" val="1583756287"/>
                    </a:ext>
                  </a:extLst>
                </a:gridCol>
                <a:gridCol w="3201458">
                  <a:extLst>
                    <a:ext uri="{9D8B030D-6E8A-4147-A177-3AD203B41FA5}">
                      <a16:colId xmlns:a16="http://schemas.microsoft.com/office/drawing/2014/main" val="2550348439"/>
                    </a:ext>
                  </a:extLst>
                </a:gridCol>
                <a:gridCol w="3201458">
                  <a:extLst>
                    <a:ext uri="{9D8B030D-6E8A-4147-A177-3AD203B41FA5}">
                      <a16:colId xmlns:a16="http://schemas.microsoft.com/office/drawing/2014/main" val="208042441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IN" sz="2000" dirty="0"/>
                        <a:t>Parameter</a:t>
                      </a:r>
                      <a:endParaRPr lang="en-IN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IN" sz="2000" dirty="0"/>
                        <a:t>Before Improvement</a:t>
                      </a:r>
                      <a:endParaRPr lang="en-IN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IN" sz="2000"/>
                        <a:t>After Improvement</a:t>
                      </a:r>
                      <a:endParaRPr lang="en-IN" sz="20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0135664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sz="2000" dirty="0"/>
                        <a:t>Throughput</a:t>
                      </a:r>
                      <a:endParaRPr lang="en-IN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IN" sz="2000"/>
                        <a:t>60 Mbps</a:t>
                      </a:r>
                      <a:endParaRPr lang="en-IN" sz="20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IN" sz="2000" b="1"/>
                        <a:t>85 Mbps</a:t>
                      </a:r>
                      <a:endParaRPr lang="en-IN" sz="20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9750895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sz="2000"/>
                        <a:t>Delay</a:t>
                      </a:r>
                      <a:endParaRPr lang="en-IN" sz="20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IN" sz="2000"/>
                        <a:t>40 ms</a:t>
                      </a:r>
                      <a:endParaRPr lang="en-IN" sz="20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IN" sz="2000" b="1"/>
                        <a:t>20 ms</a:t>
                      </a:r>
                      <a:endParaRPr lang="en-IN" sz="20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4758379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sz="2000" dirty="0"/>
                        <a:t>Packet Loss</a:t>
                      </a:r>
                      <a:endParaRPr lang="en-IN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IN" sz="2000"/>
                        <a:t>6%</a:t>
                      </a:r>
                      <a:endParaRPr lang="en-IN" sz="20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IN" sz="2000" b="1" dirty="0"/>
                        <a:t>2%</a:t>
                      </a:r>
                      <a:endParaRPr lang="en-IN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24644372"/>
                  </a:ext>
                </a:extLst>
              </a:tr>
            </a:tbl>
          </a:graphicData>
        </a:graphic>
      </p:graphicFrame>
      <p:sp>
        <p:nvSpPr>
          <p:cNvPr id="11" name="TextBox 10">
            <a:extLst>
              <a:ext uri="{FF2B5EF4-FFF2-40B4-BE49-F238E27FC236}">
                <a16:creationId xmlns:a16="http://schemas.microsoft.com/office/drawing/2014/main" id="{B5CBE548-2BBB-DB64-C0FC-886041DCCAF9}"/>
              </a:ext>
            </a:extLst>
          </p:cNvPr>
          <p:cNvSpPr txBox="1"/>
          <p:nvPr/>
        </p:nvSpPr>
        <p:spPr>
          <a:xfrm>
            <a:off x="935830" y="4117358"/>
            <a:ext cx="10075069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Throughput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increased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Delay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decreased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Packet loss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decreased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Overall network performance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improved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comparison makes it easy for the client to see the benefit of the proposed solution.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4708667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</a:t>
            </a:r>
            <a:endParaRPr lang="en-US" sz="3000" dirty="0"/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F6132817-5C3A-C2BF-6F32-F72FF7FC8C9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90625" y="1268129"/>
            <a:ext cx="8801099" cy="40073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Network simulation helps us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test and evaluate a network before deployment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Important results should be presented using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simple graphs, tables, and diagrams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Parameters such as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throughput, delay, and packet loss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show network performance. 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Before-and-after comparisons clearly show the improvement. 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 clear presentation helps the client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understand the results and make the right decision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A3D6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2266749" y="2543476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6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43000" r="43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Gallery</Template>
  <TotalTime>132</TotalTime>
  <Words>370</Words>
  <Application>Microsoft Office PowerPoint</Application>
  <PresentationFormat>Widescreen</PresentationFormat>
  <Paragraphs>80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4" baseType="lpstr">
      <vt:lpstr>Arial</vt:lpstr>
      <vt:lpstr>Calibri</vt:lpstr>
      <vt:lpstr>Cambria</vt:lpstr>
      <vt:lpstr>Gill Sans MT</vt:lpstr>
      <vt:lpstr>Times New Roman</vt:lpstr>
      <vt:lpstr>Gallery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RUCHITA</cp:lastModifiedBy>
  <cp:revision>8</cp:revision>
  <dcterms:created xsi:type="dcterms:W3CDTF">2026-07-16T05:29:11Z</dcterms:created>
  <dcterms:modified xsi:type="dcterms:W3CDTF">2026-08-27T05:37:22Z</dcterms:modified>
</cp:coreProperties>
</file>